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Arial"/>
              </a:rPr>
              <a:t>Annual growth rate, bank fraud vs. fraud scams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growth rate (%)</c:v>
                </c:pt>
              </c:strCache>
            </c:strRef>
          </c:tx>
          <c:spPr>
            <a:solidFill>
              <a:srgbClr val="3D5AF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091-48C5-AB1F-5F68ADE048C8}"/>
              </c:ext>
            </c:extLst>
          </c:dPt>
          <c:dPt>
            <c:idx val="1"/>
            <c:invertIfNegative val="0"/>
            <c:bubble3D val="0"/>
            <c:spPr>
              <a:solidFill>
                <a:srgbClr val="99001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091-48C5-AB1F-5F68ADE048C8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Bank fraud
(unauthorized transactions)</c:v>
                </c:pt>
                <c:pt idx="1">
                  <c:v>Fraud scams
(authorized push payment)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19.3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091-48C5-AB1F-5F68ADE048C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% growth (annual)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6787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hyperlink" Target="https://www.ftc.gov/news-events/news/press-releases/2026/06/ftc-data-show-people-reported-losing-3-point-5-billion-imposter-scams-2025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frbservices.org/news/fed360/issues/021726/fraud-mitigation-account-takeover" TargetMode="External"/><Relationship Id="rId5" Type="http://schemas.openxmlformats.org/officeDocument/2006/relationships/hyperlink" Target="https://www.lend360.org/bank-fraud-and-scams-surge-to-nearly-580-billion-in-losses-globally-in-2025-accelerated-by-ai/" TargetMode="External"/><Relationship Id="rId4" Type="http://schemas.openxmlformats.org/officeDocument/2006/relationships/hyperlink" Target="https://www.pwc.com/ca/en/industries/banking-capital-markets/next-in-banking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7772400" cy="5577840"/>
          </a:xfrm>
          <a:prstGeom prst="roundRect">
            <a:avLst>
              <a:gd name="adj" fmla="val 19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97280" y="1920240"/>
            <a:ext cx="6675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FRAUD LOSSES</a:t>
            </a:r>
            <a:endParaRPr lang="en-US" sz="3000" dirty="0"/>
          </a:p>
          <a:p>
            <a:pPr marL="0" indent="0" algn="l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RISING AT BANKS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business analysis case study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544068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 Babu  |  Business &amp; Data Analyst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0" y="1188720"/>
            <a:ext cx="1371600" cy="548640"/>
          </a:xfrm>
          <a:prstGeom prst="line">
            <a:avLst/>
          </a:prstGeom>
          <a:noFill/>
          <a:ln w="19050">
            <a:solidFill>
              <a:srgbClr val="3D5AF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0" y="1188720"/>
            <a:ext cx="365760" cy="1280160"/>
          </a:xfrm>
          <a:prstGeom prst="line">
            <a:avLst/>
          </a:prstGeom>
          <a:noFill/>
          <a:ln w="19050">
            <a:solidFill>
              <a:srgbClr val="3D5AF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515600" y="1737360"/>
            <a:ext cx="548640" cy="1280160"/>
          </a:xfrm>
          <a:prstGeom prst="line">
            <a:avLst/>
          </a:prstGeom>
          <a:noFill/>
          <a:ln w="19050">
            <a:solidFill>
              <a:srgbClr val="3D5AF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509760" y="2468880"/>
            <a:ext cx="457200" cy="1280160"/>
          </a:xfrm>
          <a:prstGeom prst="line">
            <a:avLst/>
          </a:prstGeom>
          <a:noFill/>
          <a:ln w="19050">
            <a:solidFill>
              <a:srgbClr val="3D5AF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flipH="1">
            <a:off x="9966960" y="3017520"/>
            <a:ext cx="1097280" cy="731520"/>
          </a:xfrm>
          <a:prstGeom prst="line">
            <a:avLst/>
          </a:prstGeom>
          <a:noFill/>
          <a:ln w="19050">
            <a:solidFill>
              <a:srgbClr val="3D5AF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 flipV="1">
            <a:off x="10515600" y="1371600"/>
            <a:ext cx="1005840" cy="365760"/>
          </a:xfrm>
          <a:prstGeom prst="line">
            <a:avLst/>
          </a:prstGeom>
          <a:noFill/>
          <a:ln w="19050">
            <a:solidFill>
              <a:srgbClr val="3D5AF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 flipH="1">
            <a:off x="8869680" y="2468880"/>
            <a:ext cx="640080" cy="822960"/>
          </a:xfrm>
          <a:prstGeom prst="line">
            <a:avLst/>
          </a:prstGeom>
          <a:noFill/>
          <a:ln w="19050">
            <a:solidFill>
              <a:srgbClr val="3D5AF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 flipH="1" flipV="1">
            <a:off x="8869680" y="3291840"/>
            <a:ext cx="1097280" cy="457200"/>
          </a:xfrm>
          <a:prstGeom prst="line">
            <a:avLst/>
          </a:prstGeom>
          <a:noFill/>
          <a:ln w="19050">
            <a:solidFill>
              <a:srgbClr val="3D5AF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089136" y="1133856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460736" y="1682496"/>
            <a:ext cx="109728" cy="109728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454896" y="2414016"/>
            <a:ext cx="109728" cy="109728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981944" y="2935224"/>
            <a:ext cx="164592" cy="16459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912096" y="3694176"/>
            <a:ext cx="109728" cy="109728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1466576" y="1316736"/>
            <a:ext cx="109728" cy="109728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814816" y="3236976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778240" y="42976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signals,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too late.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503920" y="5943600"/>
            <a:ext cx="640080" cy="640080"/>
          </a:xfrm>
          <a:prstGeom prst="ellipse">
            <a:avLst/>
          </a:prstGeom>
          <a:solidFill>
            <a:srgbClr val="3D5AFE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case study is headed, in 30 seconds.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" y="207111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116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65176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losses keep climbing even as banks invest more in detection tools.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78308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92240" y="2011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1676" y="207111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20116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37960" y="265176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signals sit in disconnected systems, which delays detection until after the money moves.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2062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77240" y="4434840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" y="4494276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443484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" y="507492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fraud signals with SQL, then prioritize investigations through a Power BI dashboard.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63640" y="420624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492240" y="44348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1676" y="4494276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443484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Business Value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537960" y="507492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detection · Reduced manual review · Better investigator productivity · Improved fraud prevention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i="1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portfolio case study demonstrating a structured Business Analysis approach, from business problem identification through solution design, dashboard planning, and measurable outcomes.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how existing banking data can be better integrated to improve fraud detection and support data-driven decision-making.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38728" cy="1115568"/>
          </a:xfrm>
          <a:prstGeom prst="roundRect">
            <a:avLst>
              <a:gd name="adj" fmla="val 655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2500884"/>
            <a:ext cx="502920" cy="50292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20" y="2566264"/>
            <a:ext cx="372161" cy="3721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194560"/>
            <a:ext cx="248716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Analysis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06824" y="2194560"/>
            <a:ext cx="3538728" cy="1115568"/>
          </a:xfrm>
          <a:prstGeom prst="roundRect">
            <a:avLst>
              <a:gd name="adj" fmla="val 655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35424" y="2500884"/>
            <a:ext cx="502920" cy="50292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0804" y="2566264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75504" y="2194560"/>
            <a:ext cx="248716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065008" y="2194560"/>
            <a:ext cx="3538728" cy="1115568"/>
          </a:xfrm>
          <a:prstGeom prst="roundRect">
            <a:avLst>
              <a:gd name="adj" fmla="val 655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8293608" y="2500884"/>
            <a:ext cx="502920" cy="50292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8988" y="2566264"/>
            <a:ext cx="372161" cy="37216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933688" y="2194560"/>
            <a:ext cx="248716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Analysis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548640" y="3493008"/>
            <a:ext cx="3538728" cy="1115568"/>
          </a:xfrm>
          <a:prstGeom prst="roundRect">
            <a:avLst>
              <a:gd name="adj" fmla="val 655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777240" y="3799332"/>
            <a:ext cx="502920" cy="50292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620" y="3864712"/>
            <a:ext cx="372161" cy="37216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17320" y="3493008"/>
            <a:ext cx="248716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Requirements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4306824" y="3493008"/>
            <a:ext cx="3538728" cy="1115568"/>
          </a:xfrm>
          <a:prstGeom prst="roundRect">
            <a:avLst>
              <a:gd name="adj" fmla="val 655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4535424" y="3799332"/>
            <a:ext cx="502920" cy="50292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0804" y="3864712"/>
            <a:ext cx="372161" cy="37216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75504" y="3493008"/>
            <a:ext cx="248716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 Model</a:t>
            </a:r>
            <a:endParaRPr lang="en-US" sz="1350" dirty="0"/>
          </a:p>
        </p:txBody>
      </p:sp>
      <p:sp>
        <p:nvSpPr>
          <p:cNvPr id="25" name="Shape 18"/>
          <p:cNvSpPr/>
          <p:nvPr/>
        </p:nvSpPr>
        <p:spPr>
          <a:xfrm>
            <a:off x="8065008" y="3493008"/>
            <a:ext cx="3538728" cy="1115568"/>
          </a:xfrm>
          <a:prstGeom prst="roundRect">
            <a:avLst>
              <a:gd name="adj" fmla="val 655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8293608" y="3799332"/>
            <a:ext cx="502920" cy="50292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8988" y="3864712"/>
            <a:ext cx="372161" cy="372161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933688" y="3493008"/>
            <a:ext cx="248716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</a:t>
            </a:r>
            <a:endParaRPr lang="en-US" sz="1350" dirty="0"/>
          </a:p>
        </p:txBody>
      </p:sp>
      <p:sp>
        <p:nvSpPr>
          <p:cNvPr id="29" name="Shape 21"/>
          <p:cNvSpPr/>
          <p:nvPr/>
        </p:nvSpPr>
        <p:spPr>
          <a:xfrm>
            <a:off x="548640" y="4791456"/>
            <a:ext cx="3538728" cy="1115568"/>
          </a:xfrm>
          <a:prstGeom prst="roundRect">
            <a:avLst>
              <a:gd name="adj" fmla="val 655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2"/>
          <p:cNvSpPr/>
          <p:nvPr/>
        </p:nvSpPr>
        <p:spPr>
          <a:xfrm>
            <a:off x="777240" y="5097780"/>
            <a:ext cx="502920" cy="50292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620" y="5163160"/>
            <a:ext cx="372161" cy="372161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417320" y="4791456"/>
            <a:ext cx="248716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Framework</a:t>
            </a:r>
            <a:endParaRPr lang="en-US" sz="1350" dirty="0"/>
          </a:p>
        </p:txBody>
      </p:sp>
      <p:sp>
        <p:nvSpPr>
          <p:cNvPr id="33" name="Shape 24"/>
          <p:cNvSpPr/>
          <p:nvPr/>
        </p:nvSpPr>
        <p:spPr>
          <a:xfrm>
            <a:off x="4306824" y="4791456"/>
            <a:ext cx="3538728" cy="1115568"/>
          </a:xfrm>
          <a:prstGeom prst="roundRect">
            <a:avLst>
              <a:gd name="adj" fmla="val 655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5"/>
          <p:cNvSpPr/>
          <p:nvPr/>
        </p:nvSpPr>
        <p:spPr>
          <a:xfrm>
            <a:off x="4535424" y="5097780"/>
            <a:ext cx="502920" cy="50292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00804" y="5163160"/>
            <a:ext cx="372161" cy="372161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175504" y="4791456"/>
            <a:ext cx="248716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50" dirty="0"/>
          </a:p>
        </p:txBody>
      </p:sp>
      <p:sp>
        <p:nvSpPr>
          <p:cNvPr id="37" name="Shape 27"/>
          <p:cNvSpPr/>
          <p:nvPr/>
        </p:nvSpPr>
        <p:spPr>
          <a:xfrm>
            <a:off x="8065008" y="4791456"/>
            <a:ext cx="3538728" cy="1115568"/>
          </a:xfrm>
          <a:prstGeom prst="roundRect">
            <a:avLst>
              <a:gd name="adj" fmla="val 655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28"/>
          <p:cNvSpPr/>
          <p:nvPr/>
        </p:nvSpPr>
        <p:spPr>
          <a:xfrm>
            <a:off x="8293608" y="5097780"/>
            <a:ext cx="502920" cy="50292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58988" y="5163160"/>
            <a:ext cx="372161" cy="372161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8933688" y="4791456"/>
            <a:ext cx="248716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and account-takeover losses keep climbing even as banks invest more in detection.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" y="239115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9260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$579.4B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8580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bank fraud &amp; scam losses, 2025 (Nasdaq Verafin)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214884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566160" y="2331720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5596" y="239115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9260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19.3%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352044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growth in scam losses, vs. 8.2% for fraud overall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214884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400800" y="2331720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0236" y="2391156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29260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$15.6B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635508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account-takeover losses in 2024, up from $12.7B in 2023 (+23% YoY)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052560" y="2148840"/>
            <a:ext cx="2651760" cy="2331720"/>
          </a:xfrm>
          <a:prstGeom prst="roundRect">
            <a:avLst>
              <a:gd name="adj" fmla="val 3137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9235440" y="2331720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4876" y="2391156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9720" y="29260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36%+</a:t>
            </a:r>
            <a:endParaRPr lang="en-US" sz="2600" dirty="0"/>
          </a:p>
        </p:txBody>
      </p:sp>
      <p:sp>
        <p:nvSpPr>
          <p:cNvPr id="23" name="Text 17"/>
          <p:cNvSpPr/>
          <p:nvPr/>
        </p:nvSpPr>
        <p:spPr>
          <a:xfrm>
            <a:off x="918972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in account-takeover reports, 2024 vs. 2023 (FinCEN SAR data)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8640" y="4800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isn't that banks lack fraud-detection technology — detection is often too slow to matter.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48640" y="63550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Nasdaq Verafin 2026 Global Financial Crime Report (via LEND360); Federal Reserve Financial Services / FinCEN; FTC (2025-2026)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Losses Are Growing Fastest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i="1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Scams — where victims are manipulated into authorizing the payment themselves — are growing more than 2x faster than traditional bank fraud.</a:t>
            </a:r>
            <a:endParaRPr lang="en-US" sz="13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914400" y="1920240"/>
          <a:ext cx="67665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001000" y="19202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229600" y="2194560"/>
            <a:ext cx="502920" cy="50292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4980" y="2259940"/>
            <a:ext cx="372161" cy="3721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869680" y="2240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229600" y="2880360"/>
            <a:ext cx="32004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have gotten better at stopping unauthorized fraud. Criminals have adapted by targeting customers directly instead — tricking them into sending the money themselves.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shift is why detection needs to catch behavioral and cross-signal patterns, not just unauthorized transactions.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Cause: Why Does Detection Lag?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20" y="1345540"/>
            <a:ext cx="372161" cy="37216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234440" y="1234440"/>
            <a:ext cx="8412480" cy="1051560"/>
          </a:xfrm>
          <a:prstGeom prst="roundRect">
            <a:avLst>
              <a:gd name="adj" fmla="val 521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417320" y="129844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losses keep rising despite more fraud-tool investment?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417320" y="166420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usually happens after money has already moved.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24871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020" y="2552548"/>
            <a:ext cx="372161" cy="372161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234440" y="2441448"/>
            <a:ext cx="8412480" cy="1051560"/>
          </a:xfrm>
          <a:prstGeom prst="roundRect">
            <a:avLst>
              <a:gd name="adj" fmla="val 521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1417320" y="2505456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detection lag?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417320" y="2871216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transaction, and complaint signals live in systems that don't share data in real time.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369417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020" y="3759556"/>
            <a:ext cx="372161" cy="372161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234440" y="3648456"/>
            <a:ext cx="8412480" cy="1051560"/>
          </a:xfrm>
          <a:prstGeom prst="roundRect">
            <a:avLst>
              <a:gd name="adj" fmla="val 521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1417320" y="371246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don't those systems share data?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417320" y="4078224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Legacy, siloed infrastructure — 53% of Canadian FS CEOs say their top AI tool can't access all their data (PwC).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48640" y="490118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020" y="4966564"/>
            <a:ext cx="372161" cy="372161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1234440" y="4855464"/>
            <a:ext cx="8412480" cy="1051560"/>
          </a:xfrm>
          <a:prstGeom prst="roundRect">
            <a:avLst>
              <a:gd name="adj" fmla="val 521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1417320" y="491947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hasn't this been fixed?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417320" y="528523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Modernization is costly; 42% of Canadian FS CEOs cite limited capital access for new initiatives (PwC). This is a barrier to fixing the problem, distinct from what caused it.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9784080" y="1463040"/>
            <a:ext cx="1828800" cy="448056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10469880" y="1691640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29316" y="1751076"/>
            <a:ext cx="338328" cy="33832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921240" y="22402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9921240" y="2697480"/>
            <a:ext cx="1554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data-accessibility and integration problem — not a shortage of fraud algorithms.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SWOT: A Typical Bank's Fraud-Detection Posture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EAF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402336" cy="402336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544" y="1469624"/>
            <a:ext cx="297729" cy="29772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41732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1965960"/>
            <a:ext cx="49834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3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historical transaction data across channels</a:t>
            </a:r>
            <a:endParaRPr lang="en-US" sz="1100" dirty="0"/>
          </a:p>
          <a:p>
            <a:pPr marL="342900" indent="-342900">
              <a:lnSpc>
                <a:spcPts val="13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risk &amp; compliance governance</a:t>
            </a:r>
            <a:endParaRPr lang="en-US" sz="1100" dirty="0"/>
          </a:p>
          <a:p>
            <a:pPr marL="342900" indent="-342900">
              <a:lnSpc>
                <a:spcPts val="13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customer trust vs. newer entrants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72200" y="123444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B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00800" y="1417320"/>
            <a:ext cx="402336" cy="40233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3104" y="1469624"/>
            <a:ext cx="297729" cy="29772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03720" y="141732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WEAKNESSES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400800" y="1965960"/>
            <a:ext cx="49834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3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signals siloed across legacy systems (53% can't access all data — PwC)</a:t>
            </a:r>
            <a:endParaRPr lang="en-US" sz="1100" dirty="0"/>
          </a:p>
          <a:p>
            <a:pPr marL="342900" indent="-342900">
              <a:lnSpc>
                <a:spcPts val="13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resource-heavy documentation &amp; review</a:t>
            </a:r>
            <a:endParaRPr lang="en-US" sz="1100" dirty="0"/>
          </a:p>
          <a:p>
            <a:pPr marL="342900" indent="-342900">
              <a:lnSpc>
                <a:spcPts val="13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is reactive, not real-time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379476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E6F1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777240" y="3977640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544" y="4029944"/>
            <a:ext cx="297729" cy="29772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397764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OPPORTUNITIES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777240" y="4526280"/>
            <a:ext cx="49834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3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benchmark, not this project's result: a PwC case study cut manual documentation time 85%+ via targeted automation</a:t>
            </a:r>
            <a:endParaRPr lang="en-US" sz="1100" dirty="0"/>
          </a:p>
          <a:p>
            <a:pPr marL="342900" indent="-342900">
              <a:lnSpc>
                <a:spcPts val="13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+ SQL can combine signals without a core-system rebuild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172200" y="379476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BEF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400800" y="3977640"/>
            <a:ext cx="402336" cy="402336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3104" y="4029944"/>
            <a:ext cx="297729" cy="29772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03720" y="397764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400800" y="4526280"/>
            <a:ext cx="49834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3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 losses growing 19.3%/yr vs. 8.2%/yr for fraud overall</a:t>
            </a:r>
            <a:endParaRPr lang="en-US" sz="1100" dirty="0"/>
          </a:p>
          <a:p>
            <a:pPr marL="342900" indent="-342900">
              <a:lnSpc>
                <a:spcPts val="13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fintech challengers move faster on unified data</a:t>
            </a:r>
            <a:endParaRPr lang="en-US" sz="1100" dirty="0"/>
          </a:p>
          <a:p>
            <a:pPr marL="342900" indent="-342900">
              <a:lnSpc>
                <a:spcPts val="13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Reputational &amp; regulatory risk from continued losses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Objective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decision this entire case study exists to support.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280160" y="2103120"/>
            <a:ext cx="9601200" cy="3200400"/>
          </a:xfrm>
          <a:prstGeom prst="roundRect">
            <a:avLst>
              <a:gd name="adj" fmla="val 285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760720" y="2514600"/>
            <a:ext cx="640080" cy="64008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930" y="259781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3383280"/>
            <a:ext cx="8138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 fraud-detection delays by giving investigators a unified view of fraud signals — using data and tools banks already have, not by replacing legacy infrastructure.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2011680" y="461772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that follows — scope, requirements, dashboard, KPIs — supports this one objective.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 — A Business Analyst's Approach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the business decision, not the technology — the same instinct behind my own client-facing analytics project.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16736" y="2194560"/>
            <a:ext cx="548640" cy="54864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059" y="226588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92608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business question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5800" y="3566160"/>
            <a:ext cx="181051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"detect fraud" — specifically: flag accounts with high takeover probability within 24 hrs of a suspicious login.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770632" y="192024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538728" y="2194560"/>
            <a:ext cx="548640" cy="54864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0051" y="2265883"/>
            <a:ext cx="405994" cy="4059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07792" y="292608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a minimum dataset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2907792" y="3566160"/>
            <a:ext cx="181051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login/device, transaction, and complaint data into one fraud-signal table using SQL.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992624" y="192024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760720" y="2194560"/>
            <a:ext cx="548640" cy="54864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2043" y="2265883"/>
            <a:ext cx="405994" cy="4059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29784" y="292608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baseline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129784" y="3566160"/>
            <a:ext cx="181051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current average time-to-detection before proposing any change.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214616" y="192024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982712" y="2194560"/>
            <a:ext cx="548640" cy="54864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4035" y="2265883"/>
            <a:ext cx="405994" cy="4059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51776" y="292608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prioritization layer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351776" y="3566160"/>
            <a:ext cx="181051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BI dashboard that risk-scores and ranks accounts, so investigators work the highest-risk cases first.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436608" y="192024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10204704" y="2194560"/>
            <a:ext cx="548640" cy="54864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76027" y="2265883"/>
            <a:ext cx="405994" cy="40599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573768" y="2926080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impact honestly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9573768" y="3566160"/>
            <a:ext cx="181051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flagging should help offset the 23% YoY rise in account-takeover losses, and cut manual review time.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boundaries early keeps a practice exercise honest about what it does, and doesn't, cover.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EAF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" y="220827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148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880360"/>
            <a:ext cx="4663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activity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complaints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 integration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prototype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72200" y="182880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FBEA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46520" y="214884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956" y="220827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2148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37960" y="2880360"/>
            <a:ext cx="4663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implementation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this solution is built for, what they need, and what's currently in their way.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63240" y="18288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78040" y="182880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1064240" cy="786384"/>
          </a:xfrm>
          <a:prstGeom prst="rect">
            <a:avLst/>
          </a:prstGeom>
          <a:solidFill>
            <a:srgbClr val="F4F6FC"/>
          </a:solidFill>
          <a:ln w="9525">
            <a:solidFill>
              <a:srgbClr val="E5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2103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Analyst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063240" y="2331720"/>
            <a:ext cx="3931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high-risk cases quickly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178040" y="2331720"/>
            <a:ext cx="4297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50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Wastes time reviewing too many false positives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118104"/>
            <a:ext cx="1106424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3118104"/>
            <a:ext cx="2103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Manager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063240" y="3118104"/>
            <a:ext cx="3931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team SLAs and reduce loss exposure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178040" y="3118104"/>
            <a:ext cx="4297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50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visibility into where analyst time goes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904488"/>
            <a:ext cx="11064240" cy="786384"/>
          </a:xfrm>
          <a:prstGeom prst="rect">
            <a:avLst/>
          </a:prstGeom>
          <a:solidFill>
            <a:srgbClr val="F4F6FC"/>
          </a:solidFill>
          <a:ln w="9525">
            <a:solidFill>
              <a:srgbClr val="E5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3904488"/>
            <a:ext cx="2103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Team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063240" y="3904488"/>
            <a:ext cx="3931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reliable, integrated data pipelines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178040" y="3904488"/>
            <a:ext cx="4297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50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source systems, manual integration work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690872"/>
            <a:ext cx="1106424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4690872"/>
            <a:ext cx="2103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063240" y="4690872"/>
            <a:ext cx="3931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business needs into clear requirements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178040" y="4690872"/>
            <a:ext cx="4297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50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Gathering consistent requirements across teams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477256"/>
            <a:ext cx="11064240" cy="786384"/>
          </a:xfrm>
          <a:prstGeom prst="rect">
            <a:avLst/>
          </a:prstGeom>
          <a:solidFill>
            <a:srgbClr val="F4F6FC"/>
          </a:solidFill>
          <a:ln w="9525">
            <a:solidFill>
              <a:srgbClr val="E5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2960" y="5477256"/>
            <a:ext cx="2103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Manager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063240" y="5477256"/>
            <a:ext cx="39319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daily investigation workload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178040" y="5477256"/>
            <a:ext cx="42976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50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view of case urgency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Requirements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solution must do, and how well it needs to do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" y="220827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148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880360"/>
            <a:ext cx="4663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login, transaction, and complaint data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 fraud risk score per account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the highest-risk accounts first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filtering by risk level and region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dashboard daily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72200" y="182880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46520" y="21488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956" y="220827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2148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37960" y="2880360"/>
            <a:ext cx="4663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loads within 5 seconds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accuracy greater than 99%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information stays secure throughout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three source signals become a prioritized case an investigator can act on — and how outcomes feed back in.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737360" cy="777240"/>
          </a:xfrm>
          <a:prstGeom prst="roundRect">
            <a:avLst>
              <a:gd name="adj" fmla="val 8235"/>
            </a:avLst>
          </a:prstGeom>
          <a:solidFill>
            <a:srgbClr val="F4F6FC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320315" y="2257980"/>
            <a:ext cx="457200" cy="868680"/>
          </a:xfrm>
          <a:prstGeom prst="line">
            <a:avLst/>
          </a:prstGeom>
          <a:noFill/>
          <a:ln w="15875">
            <a:solidFill>
              <a:srgbClr val="5B658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737360" cy="777240"/>
          </a:xfrm>
          <a:prstGeom prst="roundRect">
            <a:avLst>
              <a:gd name="adj" fmla="val 8235"/>
            </a:avLst>
          </a:prstGeom>
          <a:solidFill>
            <a:srgbClr val="F4F6FC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15251" y="3112695"/>
            <a:ext cx="457200" cy="9144"/>
          </a:xfrm>
          <a:prstGeom prst="line">
            <a:avLst/>
          </a:prstGeom>
          <a:noFill/>
          <a:ln w="15875">
            <a:solidFill>
              <a:srgbClr val="5B6588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1737360" cy="777240"/>
          </a:xfrm>
          <a:prstGeom prst="roundRect">
            <a:avLst>
              <a:gd name="adj" fmla="val 8235"/>
            </a:avLst>
          </a:prstGeom>
          <a:solidFill>
            <a:srgbClr val="F4F6FC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 flipV="1">
            <a:off x="2304288" y="3137915"/>
            <a:ext cx="457200" cy="868680"/>
          </a:xfrm>
          <a:prstGeom prst="line">
            <a:avLst/>
          </a:prstGeom>
          <a:noFill/>
          <a:ln w="15875">
            <a:solidFill>
              <a:srgbClr val="5B658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017520" y="2606040"/>
            <a:ext cx="1783080" cy="1234440"/>
          </a:xfrm>
          <a:prstGeom prst="roundRect">
            <a:avLst>
              <a:gd name="adj" fmla="val 5926"/>
            </a:avLst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3028" y="274320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9596" y="2809768"/>
            <a:ext cx="378927" cy="378927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063240" y="33375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800600" y="3223260"/>
            <a:ext cx="411480" cy="9144"/>
          </a:xfrm>
          <a:prstGeom prst="line">
            <a:avLst/>
          </a:prstGeom>
          <a:noFill/>
          <a:ln w="19050">
            <a:solidFill>
              <a:srgbClr val="5B658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212080" y="2606040"/>
            <a:ext cx="1783080" cy="1234440"/>
          </a:xfrm>
          <a:prstGeom prst="roundRect">
            <a:avLst>
              <a:gd name="adj" fmla="val 5926"/>
            </a:avLst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847588" y="274320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156" y="2809768"/>
            <a:ext cx="378927" cy="378927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257800" y="33375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Signal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995160" y="3223260"/>
            <a:ext cx="411480" cy="9144"/>
          </a:xfrm>
          <a:prstGeom prst="line">
            <a:avLst/>
          </a:prstGeom>
          <a:noFill/>
          <a:ln w="19050">
            <a:solidFill>
              <a:srgbClr val="5B658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7406640" y="2606040"/>
            <a:ext cx="1783080" cy="1234440"/>
          </a:xfrm>
          <a:prstGeom prst="roundRect">
            <a:avLst>
              <a:gd name="adj" fmla="val 5926"/>
            </a:avLst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8042148" y="274320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8716" y="2809768"/>
            <a:ext cx="378927" cy="378927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452360" y="33375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9189720" y="3223260"/>
            <a:ext cx="411480" cy="9144"/>
          </a:xfrm>
          <a:prstGeom prst="line">
            <a:avLst/>
          </a:prstGeom>
          <a:noFill/>
          <a:ln w="19050">
            <a:solidFill>
              <a:srgbClr val="5B658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9601200" y="2606040"/>
            <a:ext cx="178308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10236708" y="2743200"/>
            <a:ext cx="512064" cy="512064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3276" y="2809768"/>
            <a:ext cx="378927" cy="378927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646920" y="33375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7223760" y="3977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7246620" y="4297680"/>
            <a:ext cx="118872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7301484" y="4393692"/>
            <a:ext cx="310896" cy="310896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1900" y="4434108"/>
            <a:ext cx="230063" cy="230063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630668" y="4297680"/>
            <a:ext cx="749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95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50" dirty="0"/>
          </a:p>
          <a:p>
            <a:pPr marL="0" indent="0">
              <a:lnSpc>
                <a:spcPts val="95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</a:t>
            </a:r>
            <a:endParaRPr lang="en-US" sz="850" dirty="0"/>
          </a:p>
        </p:txBody>
      </p:sp>
      <p:sp>
        <p:nvSpPr>
          <p:cNvPr id="37" name="Shape 30"/>
          <p:cNvSpPr/>
          <p:nvPr/>
        </p:nvSpPr>
        <p:spPr>
          <a:xfrm>
            <a:off x="8572500" y="4297680"/>
            <a:ext cx="118872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1"/>
          <p:cNvSpPr/>
          <p:nvPr/>
        </p:nvSpPr>
        <p:spPr>
          <a:xfrm>
            <a:off x="8627364" y="4393692"/>
            <a:ext cx="310896" cy="310896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80" y="4434108"/>
            <a:ext cx="230063" cy="230063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956548" y="4297680"/>
            <a:ext cx="749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95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850" dirty="0"/>
          </a:p>
          <a:p>
            <a:pPr marL="0" indent="0">
              <a:lnSpc>
                <a:spcPts val="95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</a:t>
            </a:r>
            <a:endParaRPr lang="en-US" sz="850" dirty="0"/>
          </a:p>
        </p:txBody>
      </p:sp>
      <p:sp>
        <p:nvSpPr>
          <p:cNvPr id="41" name="Shape 33"/>
          <p:cNvSpPr/>
          <p:nvPr/>
        </p:nvSpPr>
        <p:spPr>
          <a:xfrm>
            <a:off x="9898380" y="4297680"/>
            <a:ext cx="118872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4"/>
          <p:cNvSpPr/>
          <p:nvPr/>
        </p:nvSpPr>
        <p:spPr>
          <a:xfrm>
            <a:off x="9953244" y="4393692"/>
            <a:ext cx="310896" cy="310896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93660" y="4434108"/>
            <a:ext cx="230063" cy="230063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10282428" y="4297680"/>
            <a:ext cx="749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95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850" dirty="0"/>
          </a:p>
          <a:p>
            <a:pPr marL="0" indent="0">
              <a:lnSpc>
                <a:spcPts val="950"/>
              </a:lnSpc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</a:t>
            </a:r>
            <a:endParaRPr lang="en-US" sz="850" dirty="0"/>
          </a:p>
        </p:txBody>
      </p:sp>
      <p:sp>
        <p:nvSpPr>
          <p:cNvPr id="45" name="Shape 36"/>
          <p:cNvSpPr/>
          <p:nvPr/>
        </p:nvSpPr>
        <p:spPr>
          <a:xfrm>
            <a:off x="10492740" y="3840480"/>
            <a:ext cx="9144" cy="457200"/>
          </a:xfrm>
          <a:prstGeom prst="line">
            <a:avLst/>
          </a:prstGeom>
          <a:noFill/>
          <a:ln w="15875">
            <a:solidFill>
              <a:srgbClr val="3D5AF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37"/>
          <p:cNvSpPr/>
          <p:nvPr/>
        </p:nvSpPr>
        <p:spPr>
          <a:xfrm flipH="1">
            <a:off x="9761220" y="4549140"/>
            <a:ext cx="137160" cy="9144"/>
          </a:xfrm>
          <a:prstGeom prst="line">
            <a:avLst/>
          </a:prstGeom>
          <a:noFill/>
          <a:ln w="15875">
            <a:solidFill>
              <a:srgbClr val="3D5AF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38"/>
          <p:cNvSpPr/>
          <p:nvPr/>
        </p:nvSpPr>
        <p:spPr>
          <a:xfrm flipH="1">
            <a:off x="8435340" y="4549140"/>
            <a:ext cx="137160" cy="9144"/>
          </a:xfrm>
          <a:prstGeom prst="line">
            <a:avLst/>
          </a:prstGeom>
          <a:noFill/>
          <a:ln w="15875">
            <a:solidFill>
              <a:srgbClr val="3D5AF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39"/>
          <p:cNvSpPr/>
          <p:nvPr/>
        </p:nvSpPr>
        <p:spPr>
          <a:xfrm flipV="1">
            <a:off x="7840980" y="3840480"/>
            <a:ext cx="457200" cy="457200"/>
          </a:xfrm>
          <a:prstGeom prst="line">
            <a:avLst/>
          </a:prstGeom>
          <a:noFill/>
          <a:ln w="15875">
            <a:solidFill>
              <a:srgbClr val="3D5AF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0"/>
          <p:cNvSpPr/>
          <p:nvPr/>
        </p:nvSpPr>
        <p:spPr>
          <a:xfrm>
            <a:off x="548640" y="50292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outcomes flow back into rule and threshold review — the dashboard improves with use, not just with more data.</a:t>
            </a:r>
            <a:endParaRPr lang="en-US" sz="1150" dirty="0"/>
          </a:p>
        </p:txBody>
      </p:sp>
      <p:sp>
        <p:nvSpPr>
          <p:cNvPr id="50" name="Text 41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minimum-viable pipeline: three existing data sources joined with SQL into one fraud-signal table, then surfaced through a prioritized dashboard.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Dictionary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fields the fraud-signal table would need, in plain language.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40480" y="18288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1064240" cy="713232"/>
          </a:xfrm>
          <a:prstGeom prst="rect">
            <a:avLst/>
          </a:prstGeom>
          <a:solidFill>
            <a:srgbClr val="F4F6FC"/>
          </a:solidFill>
          <a:ln w="9525">
            <a:solidFill>
              <a:srgbClr val="E5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0" y="2331720"/>
            <a:ext cx="7498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identifier for the account holder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044952"/>
            <a:ext cx="11064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3044952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Time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0" y="3044952"/>
            <a:ext cx="7498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of the account's most recent login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758184"/>
            <a:ext cx="11064240" cy="713232"/>
          </a:xfrm>
          <a:prstGeom prst="rect">
            <a:avLst/>
          </a:prstGeom>
          <a:solidFill>
            <a:srgbClr val="F4F6FC"/>
          </a:solidFill>
          <a:ln w="9525">
            <a:solidFill>
              <a:srgbClr val="E5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3758184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ID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40480" y="3758184"/>
            <a:ext cx="7498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of the device used to log in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471416"/>
            <a:ext cx="11064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4471416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40480" y="4471416"/>
            <a:ext cx="7498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0-100 fraud-likelihood score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184648"/>
            <a:ext cx="11064240" cy="713232"/>
          </a:xfrm>
          <a:prstGeom prst="rect">
            <a:avLst/>
          </a:prstGeom>
          <a:solidFill>
            <a:srgbClr val="F4F6FC"/>
          </a:solidFill>
          <a:ln w="9525">
            <a:solidFill>
              <a:srgbClr val="E5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2960" y="5184648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Flag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40480" y="5184648"/>
            <a:ext cx="7498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customer has an open complaint on file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 &amp; Constraints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analysis takes for granted, and where its edges are.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E6F1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" y="220827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148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880360"/>
            <a:ext cx="4663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 acceptable for analysis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allow SQL-level data extraction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data is consistently available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records are timestamped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72200" y="182880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FBF3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46520" y="2148840"/>
            <a:ext cx="457200" cy="457200"/>
          </a:xfrm>
          <a:prstGeom prst="ellipse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956" y="220827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2148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37960" y="2880360"/>
            <a:ext cx="4663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banking data was used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datasets and industry reports only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integration was built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is conceptual, not deployed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Mitigations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go wrong with this approach, and how to plan around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0" y="17830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178308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11064240" cy="914400"/>
          </a:xfrm>
          <a:prstGeom prst="rect">
            <a:avLst/>
          </a:prstGeom>
          <a:solidFill>
            <a:srgbClr val="F4F6FC"/>
          </a:solidFill>
          <a:ln w="9525">
            <a:solidFill>
              <a:srgbClr val="E5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data quality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0" y="256032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0" y="2560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54880" y="228600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rules applied before data enters the fraud-signal table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110642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32004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fraud (false negatives)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0" y="347472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0" y="3474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0" y="320040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rule validation and analyst spot-checks against known fraud patterns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11064240" cy="914400"/>
          </a:xfrm>
          <a:prstGeom prst="rect">
            <a:avLst/>
          </a:prstGeom>
          <a:solidFill>
            <a:srgbClr val="F4F6FC"/>
          </a:solidFill>
          <a:ln w="9525">
            <a:solidFill>
              <a:srgbClr val="E5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960" y="41148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records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200400" y="438912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0" y="4389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54880" y="411480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Data-completeness checks flag gaps before they reach the dashboard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029200"/>
            <a:ext cx="110642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2960" y="50292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200400" y="530352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00400" y="53035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54880" y="502920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tuning, reviewed against real investigator feedback over time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Prioritization Dashboard Could Look Like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mockup, not a live tool — risk-scored accounts queued for investigators instead of a flat, chronological list.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148840" y="14173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520440" y="14173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DETECTED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92440" y="14173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464040" y="1417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1874520"/>
            <a:ext cx="11064240" cy="566928"/>
          </a:xfrm>
          <a:prstGeom prst="rect">
            <a:avLst/>
          </a:prstGeom>
          <a:solidFill>
            <a:srgbClr val="F4F6FC"/>
          </a:solidFill>
          <a:ln w="9525">
            <a:solidFill>
              <a:srgbClr val="E5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•••4821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48840" y="201168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148840" y="201168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High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520440" y="1874520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device + payee change within 10 min of login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92440" y="1874520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 ago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464040" y="187452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review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2441448"/>
            <a:ext cx="11064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" y="2441448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•••1093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48840" y="2578608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148840" y="257860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High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20440" y="2441448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from new geography + rapid transfer attempt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92440" y="2441448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min ago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464040" y="2441448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review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008376"/>
            <a:ext cx="11064240" cy="566928"/>
          </a:xfrm>
          <a:prstGeom prst="rect">
            <a:avLst/>
          </a:prstGeom>
          <a:solidFill>
            <a:srgbClr val="F4F6FC"/>
          </a:solidFill>
          <a:ln w="9525">
            <a:solidFill>
              <a:srgbClr val="E5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5800" y="3008376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•••7756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148840" y="314553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148840" y="3145536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Medium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520440" y="3008376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reset followed by balance inquiry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092440" y="3008376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hr ago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464040" y="3008376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3575304"/>
            <a:ext cx="11064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85800" y="357530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•••3340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148840" y="3712464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148840" y="37124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Medium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520440" y="3575304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login time, no transaction yet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092440" y="3575304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hrs ago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464040" y="3575304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4142232"/>
            <a:ext cx="11064240" cy="566928"/>
          </a:xfrm>
          <a:prstGeom prst="rect">
            <a:avLst/>
          </a:prstGeom>
          <a:solidFill>
            <a:srgbClr val="F4F6FC"/>
          </a:solidFill>
          <a:ln w="9525">
            <a:solidFill>
              <a:srgbClr val="E5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85800" y="4142232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•••9902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148840" y="427939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148840" y="427939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Low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520440" y="4142232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device fingerprint mismatch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092440" y="4142232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hrs ago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9464040" y="4142232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Auto-monitored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48640" y="4846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risk score, not arrival time — the two highest-risk accounts surface first, even though the lowest-risk one was flagged more recently.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48640" y="5303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DASHBOARD FEATURES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48640" y="5669280"/>
            <a:ext cx="2121408" cy="685800"/>
          </a:xfrm>
          <a:prstGeom prst="roundRect">
            <a:avLst>
              <a:gd name="adj" fmla="val 4666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40080" y="583844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251" y="5883615"/>
            <a:ext cx="257129" cy="257129"/>
          </a:xfrm>
          <a:prstGeom prst="rect">
            <a:avLst/>
          </a:prstGeom>
        </p:spPr>
      </p:pic>
      <p:sp>
        <p:nvSpPr>
          <p:cNvPr id="50" name="Text 47"/>
          <p:cNvSpPr/>
          <p:nvPr/>
        </p:nvSpPr>
        <p:spPr>
          <a:xfrm>
            <a:off x="1051560" y="5669280"/>
            <a:ext cx="15270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region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2761488" y="5669280"/>
            <a:ext cx="2121408" cy="685800"/>
          </a:xfrm>
          <a:prstGeom prst="roundRect">
            <a:avLst>
              <a:gd name="adj" fmla="val 4666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49"/>
          <p:cNvSpPr/>
          <p:nvPr/>
        </p:nvSpPr>
        <p:spPr>
          <a:xfrm>
            <a:off x="2852928" y="583844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8099" y="5883615"/>
            <a:ext cx="257129" cy="257129"/>
          </a:xfrm>
          <a:prstGeom prst="rect">
            <a:avLst/>
          </a:prstGeom>
        </p:spPr>
      </p:pic>
      <p:sp>
        <p:nvSpPr>
          <p:cNvPr id="54" name="Text 50"/>
          <p:cNvSpPr/>
          <p:nvPr/>
        </p:nvSpPr>
        <p:spPr>
          <a:xfrm>
            <a:off x="3264408" y="5669280"/>
            <a:ext cx="15270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risk level</a:t>
            </a:r>
            <a:endParaRPr lang="en-US" sz="1050" dirty="0"/>
          </a:p>
        </p:txBody>
      </p:sp>
      <p:sp>
        <p:nvSpPr>
          <p:cNvPr id="55" name="Shape 51"/>
          <p:cNvSpPr/>
          <p:nvPr/>
        </p:nvSpPr>
        <p:spPr>
          <a:xfrm>
            <a:off x="4974336" y="5669280"/>
            <a:ext cx="2121408" cy="685800"/>
          </a:xfrm>
          <a:prstGeom prst="roundRect">
            <a:avLst>
              <a:gd name="adj" fmla="val 4666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2"/>
          <p:cNvSpPr/>
          <p:nvPr/>
        </p:nvSpPr>
        <p:spPr>
          <a:xfrm>
            <a:off x="5065776" y="583844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0947" y="5883615"/>
            <a:ext cx="257129" cy="257129"/>
          </a:xfrm>
          <a:prstGeom prst="rect">
            <a:avLst/>
          </a:prstGeom>
        </p:spPr>
      </p:pic>
      <p:sp>
        <p:nvSpPr>
          <p:cNvPr id="58" name="Text 53"/>
          <p:cNvSpPr/>
          <p:nvPr/>
        </p:nvSpPr>
        <p:spPr>
          <a:xfrm>
            <a:off x="5477256" y="5669280"/>
            <a:ext cx="15270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chart</a:t>
            </a:r>
            <a:endParaRPr lang="en-US" sz="1050" dirty="0"/>
          </a:p>
        </p:txBody>
      </p:sp>
      <p:sp>
        <p:nvSpPr>
          <p:cNvPr id="59" name="Shape 54"/>
          <p:cNvSpPr/>
          <p:nvPr/>
        </p:nvSpPr>
        <p:spPr>
          <a:xfrm>
            <a:off x="7187184" y="5669280"/>
            <a:ext cx="2121408" cy="685800"/>
          </a:xfrm>
          <a:prstGeom prst="roundRect">
            <a:avLst>
              <a:gd name="adj" fmla="val 4666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5"/>
          <p:cNvSpPr/>
          <p:nvPr/>
        </p:nvSpPr>
        <p:spPr>
          <a:xfrm>
            <a:off x="7278624" y="583844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3795" y="5883615"/>
            <a:ext cx="257129" cy="257129"/>
          </a:xfrm>
          <a:prstGeom prst="rect">
            <a:avLst/>
          </a:prstGeom>
        </p:spPr>
      </p:pic>
      <p:sp>
        <p:nvSpPr>
          <p:cNvPr id="62" name="Text 56"/>
          <p:cNvSpPr/>
          <p:nvPr/>
        </p:nvSpPr>
        <p:spPr>
          <a:xfrm>
            <a:off x="7690104" y="5669280"/>
            <a:ext cx="15270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alerts</a:t>
            </a:r>
            <a:endParaRPr lang="en-US" sz="1050" dirty="0"/>
          </a:p>
        </p:txBody>
      </p:sp>
      <p:sp>
        <p:nvSpPr>
          <p:cNvPr id="63" name="Shape 57"/>
          <p:cNvSpPr/>
          <p:nvPr/>
        </p:nvSpPr>
        <p:spPr>
          <a:xfrm>
            <a:off x="9400032" y="5669280"/>
            <a:ext cx="2121408" cy="685800"/>
          </a:xfrm>
          <a:prstGeom prst="roundRect">
            <a:avLst>
              <a:gd name="adj" fmla="val 4666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58"/>
          <p:cNvSpPr/>
          <p:nvPr/>
        </p:nvSpPr>
        <p:spPr>
          <a:xfrm>
            <a:off x="9491472" y="5838444"/>
            <a:ext cx="347472" cy="34747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36643" y="5883615"/>
            <a:ext cx="257129" cy="257129"/>
          </a:xfrm>
          <a:prstGeom prst="rect">
            <a:avLst/>
          </a:prstGeom>
        </p:spPr>
      </p:pic>
      <p:sp>
        <p:nvSpPr>
          <p:cNvPr id="66" name="Text 59"/>
          <p:cNvSpPr/>
          <p:nvPr/>
        </p:nvSpPr>
        <p:spPr>
          <a:xfrm>
            <a:off x="9902952" y="5669280"/>
            <a:ext cx="15270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summary cards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Benefits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part of the solution is meant to translate into for the business.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40" y="225994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9456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Earlier detection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88036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investigations, before losses compound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92024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37960" y="219456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225994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19456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Unified data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37960" y="288036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Better-informed analyst decisions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11480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22960" y="438912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340" y="4454500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38912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prioritization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" y="507492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 time focused on the highest-value work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63640" y="411480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537960" y="438912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3340" y="4454500"/>
            <a:ext cx="372161" cy="3721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38912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visibility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537960" y="507492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review across the team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Impact &amp; KPIs to Track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practice exercise, not a live engagement — impact is framed directionally against real industry benchmarks.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38728" cy="2148840"/>
          </a:xfrm>
          <a:prstGeom prst="roundRect">
            <a:avLst>
              <a:gd name="adj" fmla="val 3404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" y="207111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51760"/>
            <a:ext cx="3081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Time-to-Detection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3154680"/>
            <a:ext cx="3081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from suspicious event to flag, vs. baseline.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06824" y="1783080"/>
            <a:ext cx="3538728" cy="2148840"/>
          </a:xfrm>
          <a:prstGeom prst="roundRect">
            <a:avLst>
              <a:gd name="adj" fmla="val 3404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35424" y="2011680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860" y="207111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35424" y="2651760"/>
            <a:ext cx="3081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Detection Rate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35424" y="3154680"/>
            <a:ext cx="3081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true fraud cases correctly flagged.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065008" y="1783080"/>
            <a:ext cx="3538728" cy="2148840"/>
          </a:xfrm>
          <a:prstGeom prst="roundRect">
            <a:avLst>
              <a:gd name="adj" fmla="val 3404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293608" y="2011680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3044" y="2071116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93608" y="2651760"/>
            <a:ext cx="3081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 Positive Rate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293608" y="3154680"/>
            <a:ext cx="3081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flagged accounts that turn out clean.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4160520"/>
            <a:ext cx="3538728" cy="2148840"/>
          </a:xfrm>
          <a:prstGeom prst="roundRect">
            <a:avLst>
              <a:gd name="adj" fmla="val 3404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77240" y="4389120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" y="4448556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5029200"/>
            <a:ext cx="3081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Avg. Investigation Time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77240" y="5532120"/>
            <a:ext cx="3081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an investigator spends per case.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306824" y="4160520"/>
            <a:ext cx="3538728" cy="2148840"/>
          </a:xfrm>
          <a:prstGeom prst="roundRect">
            <a:avLst>
              <a:gd name="adj" fmla="val 3404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535424" y="4389120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4860" y="4448556"/>
            <a:ext cx="338328" cy="33832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35424" y="5029200"/>
            <a:ext cx="3081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Top-Risk Flag Precision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35424" y="5532120"/>
            <a:ext cx="3081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Top-ranked flags confirmed as true positives.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065008" y="4160520"/>
            <a:ext cx="3538728" cy="2148840"/>
          </a:xfrm>
          <a:prstGeom prst="roundRect">
            <a:avLst>
              <a:gd name="adj" fmla="val 3404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293608" y="4389120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3044" y="4448556"/>
            <a:ext cx="338328" cy="33832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93608" y="5029200"/>
            <a:ext cx="3081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Analyst Review Time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293608" y="5532120"/>
            <a:ext cx="3081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 per case reviewed — benchmarked against PwC's 85%+ automation case, not measured here.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could go if it moved from a practice exercise toward a real roadmap.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38728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061972" y="2194560"/>
            <a:ext cx="512064" cy="512064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8540" y="2261128"/>
            <a:ext cx="378927" cy="3789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880360"/>
            <a:ext cx="31729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risk scoring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06824" y="1920240"/>
            <a:ext cx="3538728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820156" y="2194560"/>
            <a:ext cx="512064" cy="512064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6724" y="2261128"/>
            <a:ext cx="378927" cy="37892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89704" y="2880360"/>
            <a:ext cx="31729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 detection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065008" y="1920240"/>
            <a:ext cx="3538728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9578340" y="2194560"/>
            <a:ext cx="512064" cy="512064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4908" y="2261128"/>
            <a:ext cx="378927" cy="37892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47888" y="2880360"/>
            <a:ext cx="31729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 Factory pipelines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3977640"/>
            <a:ext cx="3538728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2061972" y="4251960"/>
            <a:ext cx="512064" cy="512064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8540" y="4318528"/>
            <a:ext cx="378927" cy="37892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1520" y="4937760"/>
            <a:ext cx="31729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for large-scale processing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306824" y="3977640"/>
            <a:ext cx="3538728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5820156" y="4251960"/>
            <a:ext cx="512064" cy="512064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6724" y="4318528"/>
            <a:ext cx="378927" cy="37892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489704" y="4937760"/>
            <a:ext cx="31729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as the central data warehouse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8065008" y="3977640"/>
            <a:ext cx="3538728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8"/>
          <p:cNvSpPr/>
          <p:nvPr/>
        </p:nvSpPr>
        <p:spPr>
          <a:xfrm>
            <a:off x="9578340" y="4251960"/>
            <a:ext cx="512064" cy="512064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4908" y="4318528"/>
            <a:ext cx="378927" cy="378927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247888" y="4937760"/>
            <a:ext cx="31729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case assignment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Demonstrated Throughout This Project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Analysis and data-analytics skillset this case study put into practice.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38728" cy="4206240"/>
          </a:xfrm>
          <a:prstGeom prst="roundRect">
            <a:avLst>
              <a:gd name="adj" fmla="val 206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" y="216255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9748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ANALYSIS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2990088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Thinking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Analysis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Definition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Improvement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06824" y="1828800"/>
            <a:ext cx="3538728" cy="4206240"/>
          </a:xfrm>
          <a:prstGeom prst="roundRect">
            <a:avLst>
              <a:gd name="adj" fmla="val 206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81144" y="2103120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0580" y="216255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81144" y="269748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5A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ANALYTICS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81144" y="3246120"/>
            <a:ext cx="2990088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Design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Planning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Integration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65008" y="1828800"/>
            <a:ext cx="3538728" cy="4206240"/>
          </a:xfrm>
          <a:prstGeom prst="roundRect">
            <a:avLst>
              <a:gd name="adj" fmla="val 206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339328" y="210312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8764" y="2162556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9328" y="269748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339328" y="3246120"/>
            <a:ext cx="2990088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Whys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Framework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05840"/>
            <a:ext cx="11064240" cy="4846320"/>
          </a:xfrm>
          <a:prstGeom prst="roundRect">
            <a:avLst>
              <a:gd name="adj" fmla="val 226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97280" y="155448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THOUGHTS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1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fraud detection isn't just about better AI.</a:t>
            </a:r>
            <a:endParaRPr lang="en-US" sz="2300" dirty="0"/>
          </a:p>
          <a:p>
            <a:pPr marL="0" indent="0">
              <a:lnSpc>
                <a:spcPts val="31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about connecting the right data so investigators can make faster, better decisions.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97280" y="3703320"/>
            <a:ext cx="1876349" cy="548640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07008" y="3840480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670" y="3876142"/>
            <a:ext cx="202997" cy="2029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17904" y="3703320"/>
            <a:ext cx="137342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Analysis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19933" y="3703320"/>
            <a:ext cx="1876349" cy="548640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229661" y="3840480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5322" y="3876142"/>
            <a:ext cx="202997" cy="20299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0557" y="3703320"/>
            <a:ext cx="137342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142586" y="3703320"/>
            <a:ext cx="1876349" cy="548640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5252314" y="3840480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7975" y="3876142"/>
            <a:ext cx="202997" cy="20299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563210" y="3703320"/>
            <a:ext cx="137342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7165238" y="3703320"/>
            <a:ext cx="1876349" cy="548640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7274966" y="3840480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0628" y="3876142"/>
            <a:ext cx="202997" cy="20299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585862" y="3703320"/>
            <a:ext cx="137342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Analytics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9187891" y="3703320"/>
            <a:ext cx="1876349" cy="548640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9297619" y="3840480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3281" y="3876142"/>
            <a:ext cx="202997" cy="20299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608515" y="3703320"/>
            <a:ext cx="137342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Design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1097280" y="48920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Mary Babu  |  Business &amp; Data Analyst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1097280" y="52578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Business Analysis, Data Analytics &amp; Banking opportunities.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 in this case study traces back to one of these four primary sources.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914"/>
          </a:xfrm>
          <a:prstGeom prst="line">
            <a:avLst/>
          </a:prstGeom>
          <a:noFill/>
          <a:ln w="12700">
            <a:solidFill>
              <a:srgbClr val="E5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2039112"/>
            <a:ext cx="384048" cy="384048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66" y="2089038"/>
            <a:ext cx="284196" cy="2841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200253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PwC Canada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97280" y="235000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isn't delivering for Canadian banks. Except where it is." (2026)</a:t>
            </a:r>
            <a:endParaRPr lang="en-US" sz="1050" dirty="0"/>
          </a:p>
        </p:txBody>
      </p:sp>
      <p:sp>
        <p:nvSpPr>
          <p:cNvPr id="9" name="Text 6">
            <a:hlinkClick r:id="rId4"/>
          </p:cNvPr>
          <p:cNvSpPr/>
          <p:nvPr/>
        </p:nvSpPr>
        <p:spPr>
          <a:xfrm>
            <a:off x="1097280" y="2587752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u="sng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https://www.pwc.com/ca/en/industries/banking-capital-markets/next-in-banking.html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2834640"/>
            <a:ext cx="11064240" cy="914"/>
          </a:xfrm>
          <a:prstGeom prst="line">
            <a:avLst/>
          </a:prstGeom>
          <a:noFill/>
          <a:ln w="12700">
            <a:solidFill>
              <a:srgbClr val="E5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48640" y="2999232"/>
            <a:ext cx="384048" cy="384048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66" y="3049158"/>
            <a:ext cx="284196" cy="2841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97280" y="296265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Nasdaq Verafin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097280" y="331012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Global Financial Crime Report, via LEND360</a:t>
            </a:r>
            <a:endParaRPr lang="en-US" sz="1050" dirty="0"/>
          </a:p>
        </p:txBody>
      </p:sp>
      <p:sp>
        <p:nvSpPr>
          <p:cNvPr id="15" name="Text 11">
            <a:hlinkClick r:id="rId5"/>
          </p:cNvPr>
          <p:cNvSpPr/>
          <p:nvPr/>
        </p:nvSpPr>
        <p:spPr>
          <a:xfrm>
            <a:off x="1097280" y="3547872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u="sng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https://www.lend360.org/bank-fraud-and-scams-surge-to-nearly-580-billion-in-losses-globally-in-2025-accelerated-by-ai/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48640" y="3794760"/>
            <a:ext cx="11064240" cy="914"/>
          </a:xfrm>
          <a:prstGeom prst="line">
            <a:avLst/>
          </a:prstGeom>
          <a:noFill/>
          <a:ln w="12700">
            <a:solidFill>
              <a:srgbClr val="E5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48640" y="3959352"/>
            <a:ext cx="384048" cy="384048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66" y="4009278"/>
            <a:ext cx="284196" cy="2841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97280" y="392277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Federal Reserve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097280" y="42702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"Account takeover fraud: A persistent threat" — Fed360</a:t>
            </a:r>
            <a:endParaRPr lang="en-US" sz="1050" dirty="0"/>
          </a:p>
        </p:txBody>
      </p:sp>
      <p:sp>
        <p:nvSpPr>
          <p:cNvPr id="21" name="Text 16">
            <a:hlinkClick r:id="rId6"/>
          </p:cNvPr>
          <p:cNvSpPr/>
          <p:nvPr/>
        </p:nvSpPr>
        <p:spPr>
          <a:xfrm>
            <a:off x="1097280" y="4507992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u="sng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https://www.frbservices.org/news/fed360/issues/021726/fraud-mitigation-account-takeover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48640" y="4754880"/>
            <a:ext cx="11064240" cy="914"/>
          </a:xfrm>
          <a:prstGeom prst="line">
            <a:avLst/>
          </a:prstGeom>
          <a:noFill/>
          <a:ln w="12700">
            <a:solidFill>
              <a:srgbClr val="E5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548640" y="4919472"/>
            <a:ext cx="384048" cy="384048"/>
          </a:xfrm>
          <a:prstGeom prst="ellipse">
            <a:avLst/>
          </a:prstGeom>
          <a:solidFill>
            <a:srgbClr val="3D5A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66" y="4969398"/>
            <a:ext cx="284196" cy="2841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97280" y="488289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FTC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1097280" y="523036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"People Reported Losing $3.5B to Imposter Scams in 2025"</a:t>
            </a:r>
            <a:endParaRPr lang="en-US" sz="1050" dirty="0"/>
          </a:p>
        </p:txBody>
      </p:sp>
      <p:sp>
        <p:nvSpPr>
          <p:cNvPr id="27" name="Text 21">
            <a:hlinkClick r:id="rId7"/>
          </p:cNvPr>
          <p:cNvSpPr/>
          <p:nvPr/>
        </p:nvSpPr>
        <p:spPr>
          <a:xfrm>
            <a:off x="1097280" y="5468112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u="sng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https://www.ftc.gov/news-events/news/press-releases/2026/06/ftc-data-show-people-reported-losing-3-point-5-billion-imposter-scams-2025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1927</Words>
  <Application>Microsoft Office PowerPoint</Application>
  <PresentationFormat>Widescreen</PresentationFormat>
  <Paragraphs>336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Mary</dc:creator>
  <cp:lastModifiedBy>Mary Babu</cp:lastModifiedBy>
  <cp:revision>2</cp:revision>
  <dcterms:created xsi:type="dcterms:W3CDTF">2026-08-05T02:56:59Z</dcterms:created>
  <dcterms:modified xsi:type="dcterms:W3CDTF">2026-08-05T03:07:51Z</dcterms:modified>
</cp:coreProperties>
</file>